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src.nist.gov/glossary/term/man_in_the_middle_attack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src.nist.gov/projects/hash-functions" TargetMode="Externa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1169daab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1169daab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185d1878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185d1878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185d18783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185d18783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54800a29d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54800a29d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153f6bfde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5153f6bfde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295a02cd3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295a02cd3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95a02cd3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95a02cd3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95a02cd3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295a02cd3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295a02cd31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295a02cd31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https://csrc.nist.gov/glossary/term/man_in_the_middle_attack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295a02cd31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295a02cd31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95a02cd31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295a02cd31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295a02cd31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295a02cd31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295a02cd31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295a02cd31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295a02cd31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295a02cd31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95a02cd31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295a02cd31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295a02cd31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295a02cd31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295a02cd31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295a02cd31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295a02cd31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295a02cd31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529b845a5c_2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529b845a5c_2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29b845a5c_2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529b845a5c_2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529b845a5c_2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529b845a5c_2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529b845a5c_2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529b845a5c_2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295a02cd31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295a02cd31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529b845a5c_2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529b845a5c_2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295a02cd31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295a02cd31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95a02cd31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95a02cd31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295a02cd31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295a02cd31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295a02cd31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295a02cd31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295a02cd3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295a02cd3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295a02cd3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295a02cd3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Layer Security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295a02cd31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295a02cd31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295a02cd31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295a02cd31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295a02cd31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295a02cd31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295a02cd31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295a02cd31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295a02cd31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295a02cd31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295a02cd3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295a02cd3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295a02cd31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295a02cd31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295a02cd31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295a02cd31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529b845a5c_2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529b845a5c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295a02cd31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295a02cd31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295a02cd31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295a02cd31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Strict Transport Security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95a02cd3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295a02cd3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295a02cd31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295a02cd3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295a02cd3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295a02cd3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295a02cd31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295a02cd31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295a02cd3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295a02cd3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295a02cd3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295a02cd3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295a02cd3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295a02cd3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295a02cd3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295a02cd3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295a02cd3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295a02cd3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295a02cd3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295a02cd3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295a02cd3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295a02cd3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295a02cd3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295a02cd3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295a02cd3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295a02cd3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295a02cd31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295a02cd31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295a02cd31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295a02cd31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295a02cd31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295a02cd31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295a02cd31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295a02cd31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295a02cd31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295a02cd31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295a02cd31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295a02cd31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295a02cd31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295a02cd31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295a02cd31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295a02cd3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95a02cd31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295a02cd31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295a02cd31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295a02cd31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295a02cd31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295a02cd31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295a02cd31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295a02cd31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295a02cd31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295a02cd31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295a02cd31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295a02cd31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295a02cd31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295a02cd31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295a02cd31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295a02cd31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295a02cd31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295a02cd31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295a02cd31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295a02cd31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295a02cd31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295a02cd31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295a02cd31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295a02cd31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295a02cd31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295a02cd31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295a02cd31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295a02cd31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https://csrc.nist.gov/projects/hash-functions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295a02cd31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295a02cd31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295a02cd31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295a02cd31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 team, blue team</a:t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295a02cd31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295a02cd31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295a02cd31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2295a02cd31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295a02cd31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295a02cd31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295a02cd31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295a02cd31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295a02cd31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295a02cd31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295a02cd31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295a02cd31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295a02cd31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295a02cd31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 break –</a:t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295a02cd31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295a02cd31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295a02cd31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295a02cd31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295a02cd31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295a02cd31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295a02cd31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295a02cd31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295a02cd31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2295a02cd31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295a02cd31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2295a02cd31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295a02cd31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295a02cd31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295a02cd31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295a02cd31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295a02cd31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295a02cd31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51169daab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51169daab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Introduction to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 J. Malan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malan@harvard.edu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Souvenir Photo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Introduction to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 J. Malan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malan@harvard.edu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Securing Systems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Encryption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Wi-Fi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Wi-Fi Protected Access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  <p:sp>
        <p:nvSpPr>
          <p:cNvPr id="92" name="Google Shape;92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 ↔ Eve ↔ Bob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Machine-in-the-Middle Attacks</a:t>
            </a:r>
            <a:endParaRPr sz="4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&lt;html&gt;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…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&lt;body&gt;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   …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&lt;/body&gt;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&lt;html&gt;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…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&lt;body&gt;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   &lt;script src="ad.js"&gt;&lt;/script&gt;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   …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&lt;/body&gt;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&lt;html&gt;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…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&lt;body&gt;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   &lt;script src="</a:t>
            </a:r>
            <a:r>
              <a:rPr lang="en" sz="3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ad.js</a:t>
            </a: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"&gt;&lt;/script&gt;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   …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&lt;/body&gt;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Sniffing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GET /search?q=cats HTTP/3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Host: example.com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GET /search?</a:t>
            </a:r>
            <a:r>
              <a:rPr lang="en" sz="31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q=cats</a:t>
            </a: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HTTP/</a:t>
            </a: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Host: example.com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POST /checkout HTTP/3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Host: example.com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number=4242424242424242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POST /checkout HTTP/3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Host: example.com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number=4242424242424242</a:t>
            </a:r>
            <a:endParaRPr sz="310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Cookies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HTTP/3 200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Set-Cookie: session=1234abcd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HTTP/3 200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Set-Cookie: </a:t>
            </a:r>
            <a:r>
              <a:rPr lang="en" sz="31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session=1234abcd</a:t>
            </a:r>
            <a:endParaRPr sz="310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GET / HTTP/3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Cookie: session=1234abcd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GET / HTTP/3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Cookie: </a:t>
            </a:r>
            <a:r>
              <a:rPr lang="en" sz="31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session=1234abcd</a:t>
            </a:r>
            <a:endParaRPr sz="310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Hijacking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GET / HTTP/3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Cookie: </a:t>
            </a:r>
            <a:r>
              <a:rPr lang="en" sz="31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session=1234abcd</a:t>
            </a:r>
            <a:endParaRPr sz="310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Superc</a:t>
            </a:r>
            <a:r>
              <a:rPr lang="en"/>
              <a:t>ookies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GET / HTTP/3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Host: example.com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GET / HTTP/3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Host: example.com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Cookie: session=1234abcd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GET / HTTP/3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Host: example.com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Cookie: </a:t>
            </a:r>
            <a:r>
              <a:rPr lang="en" sz="31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session=1234abcd</a:t>
            </a:r>
            <a:endParaRPr sz="310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</a:t>
            </a:r>
            <a:endParaRPr/>
          </a:p>
        </p:txBody>
      </p:sp>
      <p:sp>
        <p:nvSpPr>
          <p:cNvPr id="198" name="Google Shape;198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 ↔ Bob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Certificate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X.509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Certificate Authority (CA)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6"/>
          <p:cNvSpPr/>
          <p:nvPr/>
        </p:nvSpPr>
        <p:spPr>
          <a:xfrm>
            <a:off x="3501900" y="1570500"/>
            <a:ext cx="2140200" cy="20025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6"/>
          <p:cNvSpPr txBox="1"/>
          <p:nvPr/>
        </p:nvSpPr>
        <p:spPr>
          <a:xfrm>
            <a:off x="-2110" y="2241725"/>
            <a:ext cx="3697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certificate</a:t>
            </a:r>
            <a:r>
              <a:rPr lang="en" sz="3000">
                <a:solidFill>
                  <a:srgbClr val="FFFFFF"/>
                </a:solidFill>
              </a:rPr>
              <a:t> →  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225" name="Google Shape;225;p46"/>
          <p:cNvSpPr txBox="1"/>
          <p:nvPr/>
        </p:nvSpPr>
        <p:spPr>
          <a:xfrm>
            <a:off x="5446651" y="2241725"/>
            <a:ext cx="3697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 → hash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7"/>
          <p:cNvSpPr/>
          <p:nvPr/>
        </p:nvSpPr>
        <p:spPr>
          <a:xfrm>
            <a:off x="3501900" y="1570500"/>
            <a:ext cx="2140200" cy="20025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7"/>
          <p:cNvSpPr txBox="1"/>
          <p:nvPr/>
        </p:nvSpPr>
        <p:spPr>
          <a:xfrm>
            <a:off x="-2110" y="2241725"/>
            <a:ext cx="3697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signature →  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232" name="Google Shape;232;p47"/>
          <p:cNvSpPr txBox="1"/>
          <p:nvPr/>
        </p:nvSpPr>
        <p:spPr>
          <a:xfrm>
            <a:off x="5446651" y="2241725"/>
            <a:ext cx="3697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 → hash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233" name="Google Shape;233;p47"/>
          <p:cNvSpPr txBox="1"/>
          <p:nvPr/>
        </p:nvSpPr>
        <p:spPr>
          <a:xfrm>
            <a:off x="-2110" y="1632125"/>
            <a:ext cx="3697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public key →  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SSL Stripping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GET / HTTP/3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Host: example.com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HTTP/3 307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Location: https://examp1e.com/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HTTP/3 307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Location: </a:t>
            </a:r>
            <a:r>
              <a:rPr lang="en" sz="31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https</a:t>
            </a: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://examp1e.com/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HTTP/3 307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Location: https://examp</a:t>
            </a:r>
            <a:r>
              <a:rPr lang="en" sz="31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e.com/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HSTS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4"/>
          <p:cNvSpPr txBox="1"/>
          <p:nvPr>
            <p:ph type="title"/>
          </p:nvPr>
        </p:nvSpPr>
        <p:spPr>
          <a:xfrm>
            <a:off x="228600" y="450150"/>
            <a:ext cx="8686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Strict-Transport-Security: max-age=31536000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5"/>
          <p:cNvSpPr txBox="1"/>
          <p:nvPr>
            <p:ph type="title"/>
          </p:nvPr>
        </p:nvSpPr>
        <p:spPr>
          <a:xfrm>
            <a:off x="228600" y="450150"/>
            <a:ext cx="8686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Strict-Transport-Security: max-age=31536000; includeSubDomains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6"/>
          <p:cNvSpPr txBox="1"/>
          <p:nvPr>
            <p:ph type="title"/>
          </p:nvPr>
        </p:nvSpPr>
        <p:spPr>
          <a:xfrm>
            <a:off x="228600" y="450150"/>
            <a:ext cx="8686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Strict-Transport-Security: max-age=31536000; includeSubDomains; preload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VPN</a:t>
            </a:r>
            <a:endParaRPr/>
          </a:p>
        </p:txBody>
      </p:sp>
      <p:sp>
        <p:nvSpPr>
          <p:cNvPr id="284" name="Google Shape;284;p5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 ↔ Bob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SSH</a:t>
            </a:r>
            <a:endParaRPr/>
          </a:p>
        </p:txBody>
      </p:sp>
      <p:sp>
        <p:nvSpPr>
          <p:cNvPr id="290" name="Google Shape;290;p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 ↔ Bob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</a:t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</a:t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7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stanf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7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stanfo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stanfor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7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stanford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stanford.</a:t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7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stanford.e</a:t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stanford.ed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8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stanford.edu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8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stanford.edu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stanford.edu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8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stanford.edu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8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stanford.edu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8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stanford.edu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8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Thu Jan  1 12:00:00 AM EST 1970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ssh stanford.edu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$ date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Consolas"/>
                <a:ea typeface="Consolas"/>
                <a:cs typeface="Consolas"/>
                <a:sym typeface="Consolas"/>
              </a:rPr>
              <a:t>Wed Dec 31 09:00:00 PM PST 1969</a:t>
            </a:r>
            <a:endParaRPr sz="3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8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8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22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80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443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…</a:t>
            </a:r>
            <a:endParaRPr sz="24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8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 Scanning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9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Penetration Testing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9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Hacking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9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Firewall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Address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Packet Inspection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Proxy</a:t>
            </a:r>
            <a:endParaRPr/>
          </a:p>
        </p:txBody>
      </p:sp>
      <p:sp>
        <p:nvSpPr>
          <p:cNvPr id="476" name="Google Shape;476;p9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 ↔ Eve ↔ Bob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9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https://example.com/?url=...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9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https://example.com/?</a:t>
            </a:r>
            <a:r>
              <a:rPr lang="en">
                <a:solidFill>
                  <a:srgbClr val="FFFF00"/>
                </a:solidFill>
              </a:rPr>
              <a:t>url=...</a:t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9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Malware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9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Virus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0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Worm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0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Botnet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Denial-of-Service Attack</a:t>
            </a:r>
            <a:endParaRPr sz="3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(DoS)</a:t>
            </a:r>
            <a:endParaRPr sz="39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0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Distributed </a:t>
            </a:r>
            <a:r>
              <a:rPr lang="en" sz="3900"/>
              <a:t>Denial-of-Service Attack (DDoS)</a:t>
            </a:r>
            <a:endParaRPr sz="39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0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Antivirus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0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 Updates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0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Zero-Day Attacks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0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Introduction to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537" name="Google Shape;537;p10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 J. Malan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malan@harvard.edu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