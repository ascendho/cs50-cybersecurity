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28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28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ges.nist.gov/800-63-3/sp800-63b.html"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ges.nist.gov/800-63-3/sp800-63b.html"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ges.nist.gov/800-63-3/sp800-63b.html"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ges.nist.gov/800-63-3/sp800-63b.html"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ges.nist.gov/800-63-3/sp800-63b.html"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ges.nist.gov/800-63-3/sp800-63b.html"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ges.nist.gov/800-63-3/sp800-63b.html"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upport.apple.com/en-us/HT204306"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okenguard.com/RSA-SecurID-SID800.asp"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okenguard.com/RSA-SecurID-SID800.asp"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src.nist.gov/glossary/term/man_in_the_middle_attack"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officesupply.com/school-supplies/student-teacher-supplies/teacher-aids/note-pads/post-notes-original-pads-canary-yellow-sheets/p1111234.html"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1169daab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1169daab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17b9532d4_5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17b9532d4_5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517b9532d4_5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517b9532d4_5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2ae269a6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2ae269a6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51169daab4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51169daab4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1169daab4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51169daab4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1169daab4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1169daab4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51169daab4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51169daab4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1169daab4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1169daab4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51169daab4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51169daab4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51169daab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51169daab4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51169daab4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51169daab4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1169daab4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1169daab4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51169daab4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51169daab4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51169daab4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51169daab4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1169daab4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51169daab4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51169daab4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51169daab4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51169daab4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51169daab4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51169daab4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51169daab4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51169daab4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51169daab4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51169daab4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51169daab4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51169daab4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51169daab4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51169daab4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51169daab4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51169daab4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51169daab4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51169daab4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51169daab4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51169daab4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51169daab4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51169daab4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51169daab4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51169daab4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51169daab4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https://pages.nist.gov/800-63-3/sp800-63b.html</a:t>
            </a:r>
            <a:r>
              <a:rPr lang="en"/>
              <a: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51169daab4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51169daab4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https://pages.nist.gov/800-63-3/sp800-63b.html</a:t>
            </a:r>
            <a:r>
              <a:rPr lang="en"/>
              <a:t>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51169daab4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51169daab4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https://pages.nist.gov/800-63-3/sp800-63b.html</a:t>
            </a:r>
            <a:r>
              <a:rPr lang="en"/>
              <a: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1169daab4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1169daab4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https://pages.nist.gov/800-63-3/sp800-63b.html</a:t>
            </a:r>
            <a:r>
              <a:rPr lang="en"/>
              <a:t>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51169daab4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51169daab4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https://pages.nist.gov/800-63-3/sp800-63b.html</a:t>
            </a:r>
            <a:r>
              <a:rPr lang="en"/>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51169daab4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51169daab4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https://pages.nist.gov/800-63-3/sp800-63b.html</a:t>
            </a:r>
            <a:r>
              <a:rPr lang="en"/>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51169daab4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51169daab4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https://pages.nist.gov/800-63-3/sp800-63b.html</a:t>
            </a:r>
            <a:r>
              <a:rPr lang="en"/>
              <a:t>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51169daab4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51169daab4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https://support.apple.com/en-us/HT204306</a:t>
            </a:r>
            <a:r>
              <a:rPr lang="en"/>
              <a: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514bb5227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514bb5227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51169daab4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51169daab4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1169daab4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51169daab4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51169daab4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51169daab4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514bb5227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514bb5227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51169daab4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51169daab4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https://www.tokenguard.com/RSA-SecurID-SID800.asp</a:t>
            </a:r>
            <a:r>
              <a:rPr lang="en"/>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51169daab4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51169daab4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https://www.tokenguard.com/RSA-SecurID-SID800.asp</a:t>
            </a:r>
            <a:r>
              <a:rPr lang="en"/>
              <a:t>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51169daab4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51169daab4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51169daab4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51169daab4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514bb522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514bb522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51169daab4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51169daab4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51169daab4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51169daab4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51169daab4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51169daab4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51169daab4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51169daab4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514bb5227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514bb5227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https://csrc.nist.gov/glossary/term/man_in_the_middle_attack</a:t>
            </a:r>
            <a:r>
              <a:rPr lang="en"/>
              <a: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51169daab4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51169daab4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50" u="sng">
                <a:solidFill>
                  <a:schemeClr val="hlink"/>
                </a:solidFill>
                <a:hlinkClick r:id="rId2"/>
              </a:rPr>
              <a:t>https://www.officesupply.com/school-supplies/student-teacher-supplies/teacher-aids/note-pads/post-notes-original-pads-canary-yellow-sheets/p1111234.html</a:t>
            </a:r>
            <a:r>
              <a:rPr lang="en" sz="1650"/>
              <a:t>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51169daab4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51169daab4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51169daab4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51169daab4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51169daab4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51169daab4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51169daab4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51169daab4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51169daab4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51169daab4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51169daab4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51169daab4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TODO: put in Data lecture</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51169daab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51169daab4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800"/>
              <a:t>Introduction to</a:t>
            </a:r>
            <a:endParaRPr sz="2800"/>
          </a:p>
          <a:p>
            <a:pPr indent="0" lvl="0" marL="0" rtl="0" algn="l">
              <a:spcBef>
                <a:spcPts val="0"/>
              </a:spcBef>
              <a:spcAft>
                <a:spcPts val="0"/>
              </a:spcAft>
              <a:buNone/>
            </a:pPr>
            <a:r>
              <a:rPr lang="en"/>
              <a:t>Cybersecurity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David J. Malan</a:t>
            </a:r>
            <a:endParaRPr/>
          </a:p>
          <a:p>
            <a:pPr indent="0" lvl="0" marL="0" rtl="0" algn="l">
              <a:spcBef>
                <a:spcPts val="0"/>
              </a:spcBef>
              <a:spcAft>
                <a:spcPts val="0"/>
              </a:spcAft>
              <a:buNone/>
            </a:pPr>
            <a:r>
              <a:rPr lang="en"/>
              <a:t>malan@harvard.edu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 name="Shape 59"/>
        <p:cNvGrpSpPr/>
        <p:nvPr/>
      </p:nvGrpSpPr>
      <p:grpSpPr>
        <a:xfrm>
          <a:off x="0" y="0"/>
          <a:ext cx="0" cy="0"/>
          <a:chOff x="0" y="0"/>
          <a:chExt cx="0" cy="0"/>
        </a:xfrm>
      </p:grpSpPr>
      <p:sp>
        <p:nvSpPr>
          <p:cNvPr id="60" name="Google Shape;60;p1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Souvenir Photo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800"/>
              <a:t>Introduction to</a:t>
            </a:r>
            <a:endParaRPr sz="2800"/>
          </a:p>
          <a:p>
            <a:pPr indent="0" lvl="0" marL="0" rtl="0" algn="l">
              <a:spcBef>
                <a:spcPts val="0"/>
              </a:spcBef>
              <a:spcAft>
                <a:spcPts val="0"/>
              </a:spcAft>
              <a:buNone/>
            </a:pPr>
            <a:r>
              <a:rPr lang="en"/>
              <a:t>Cybersecurity</a:t>
            </a:r>
            <a:endParaRPr/>
          </a:p>
        </p:txBody>
      </p:sp>
      <p:sp>
        <p:nvSpPr>
          <p:cNvPr id="66" name="Google Shape;66;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David J. Malan</a:t>
            </a:r>
            <a:endParaRPr/>
          </a:p>
          <a:p>
            <a:pPr indent="0" lvl="0" marL="0" rtl="0" algn="l">
              <a:spcBef>
                <a:spcPts val="0"/>
              </a:spcBef>
              <a:spcAft>
                <a:spcPts val="0"/>
              </a:spcAft>
              <a:buNone/>
            </a:pPr>
            <a:r>
              <a:rPr lang="en"/>
              <a:t>malan@harvard.edu</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Securing Accounts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9600"/>
              <a:t>🔑</a:t>
            </a:r>
            <a:endParaRPr sz="9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Authentication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Authorization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0"/>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Usernames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Passwords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Dictionary Attacks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3"/>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Brute-Force Attacks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4 digits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5"/>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10 × 10 × 10 × 10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10</a:t>
            </a:r>
            <a:r>
              <a:rPr baseline="30000" lang="en"/>
              <a:t>4</a:t>
            </a:r>
            <a:endParaRPr baseline="30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10,000</a:t>
            </a:r>
            <a:endParaRPr baseline="30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4 letters</a:t>
            </a:r>
            <a:endParaRPr baseline="30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26 × 26 × 26 × 26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52 × 52 × 52 × 52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1"/>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52</a:t>
            </a:r>
            <a:r>
              <a:rPr baseline="30000" lang="en"/>
              <a:t>4</a:t>
            </a:r>
            <a:endParaRPr baseline="30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2"/>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7,311,616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3"/>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4 characters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94 × 94 × 94 × 94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5"/>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94</a:t>
            </a:r>
            <a:r>
              <a:rPr baseline="30000" lang="en"/>
              <a:t>4</a:t>
            </a:r>
            <a:endParaRPr baseline="30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78,074,896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8 characters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94</a:t>
            </a:r>
            <a:r>
              <a:rPr baseline="30000" lang="en"/>
              <a:t>8</a:t>
            </a:r>
            <a:endParaRPr baseline="30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6,095,689,385,410,816</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0"/>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100"/>
              <a:t>National Institute of </a:t>
            </a:r>
            <a:br>
              <a:rPr lang="en" sz="4100"/>
            </a:br>
            <a:r>
              <a:rPr lang="en" sz="4100"/>
              <a:t>Standards and Technology (NIST)</a:t>
            </a:r>
            <a:endParaRPr sz="4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1"/>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"Memorized secrets SHALL be at least </a:t>
            </a:r>
            <a:r>
              <a:rPr lang="en" sz="2400">
                <a:solidFill>
                  <a:srgbClr val="FFFF00"/>
                </a:solidFill>
              </a:rPr>
              <a:t>8 characters</a:t>
            </a:r>
            <a:endParaRPr sz="2400">
              <a:solidFill>
                <a:srgbClr val="FFFF00"/>
              </a:solidFill>
            </a:endParaRPr>
          </a:p>
          <a:p>
            <a:pPr indent="0" lvl="0" marL="0" rtl="0" algn="l">
              <a:spcBef>
                <a:spcPts val="0"/>
              </a:spcBef>
              <a:spcAft>
                <a:spcPts val="0"/>
              </a:spcAft>
              <a:buNone/>
            </a:pPr>
            <a:r>
              <a:rPr lang="en" sz="2400"/>
              <a:t>in length…"</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2"/>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"Verifiers SHOULD permit subscriber-chosen memorized secrets at least </a:t>
            </a:r>
            <a:r>
              <a:rPr lang="en" sz="2400">
                <a:solidFill>
                  <a:srgbClr val="FFFF00"/>
                </a:solidFill>
              </a:rPr>
              <a:t>64 characters</a:t>
            </a:r>
            <a:r>
              <a:rPr lang="en" sz="2400"/>
              <a:t> in length. All printing ASCII characters as well as the space character SHOULD be acceptable in memorized secrets. Unicode characters SHOULD be accepted as well."</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3"/>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 verifiers SHALL compare the prospective secrets against a list that contains values known to be commonly-used, expected, or compromised…</a:t>
            </a:r>
            <a:endParaRPr sz="2400"/>
          </a:p>
          <a:p>
            <a:pPr indent="0" lvl="0" marL="0" rtl="0" algn="l">
              <a:spcBef>
                <a:spcPts val="0"/>
              </a:spcBef>
              <a:spcAft>
                <a:spcPts val="0"/>
              </a:spcAft>
              <a:buNone/>
            </a:pPr>
            <a:r>
              <a:t/>
            </a:r>
            <a:endParaRPr sz="2400"/>
          </a:p>
          <a:p>
            <a:pPr indent="-381000" lvl="0" marL="457200" rtl="0" algn="l">
              <a:spcBef>
                <a:spcPts val="0"/>
              </a:spcBef>
              <a:spcAft>
                <a:spcPts val="0"/>
              </a:spcAft>
              <a:buSzPts val="2400"/>
              <a:buChar char="●"/>
            </a:pPr>
            <a:r>
              <a:rPr lang="en" sz="2400"/>
              <a:t>"Passwords obtained from previous breach corpuses.</a:t>
            </a:r>
            <a:endParaRPr sz="2400"/>
          </a:p>
          <a:p>
            <a:pPr indent="-381000" lvl="0" marL="457200" rtl="0" algn="l">
              <a:spcBef>
                <a:spcPts val="0"/>
              </a:spcBef>
              <a:spcAft>
                <a:spcPts val="0"/>
              </a:spcAft>
              <a:buSzPts val="2400"/>
              <a:buChar char="●"/>
            </a:pPr>
            <a:r>
              <a:rPr lang="en" sz="2400"/>
              <a:t>"Dictionary words.</a:t>
            </a:r>
            <a:endParaRPr sz="2400"/>
          </a:p>
          <a:p>
            <a:pPr indent="-381000" lvl="0" marL="457200" rtl="0" algn="l">
              <a:spcBef>
                <a:spcPts val="0"/>
              </a:spcBef>
              <a:spcAft>
                <a:spcPts val="0"/>
              </a:spcAft>
              <a:buSzPts val="2400"/>
              <a:buChar char="●"/>
            </a:pPr>
            <a:r>
              <a:rPr lang="en" sz="2400"/>
              <a:t>"Repetitive or sequential characters (e.g. 'aaaaaa', '1234abcd').</a:t>
            </a:r>
            <a:endParaRPr sz="2400"/>
          </a:p>
          <a:p>
            <a:pPr indent="-381000" lvl="0" marL="457200" rtl="0" algn="l">
              <a:spcBef>
                <a:spcPts val="0"/>
              </a:spcBef>
              <a:spcAft>
                <a:spcPts val="0"/>
              </a:spcAft>
              <a:buSzPts val="2400"/>
              <a:buChar char="●"/>
            </a:pPr>
            <a:r>
              <a:rPr lang="en" sz="2400"/>
              <a:t>"Context-specific words, such as the name of the service, the username, and derivatives thereof."</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"Memorized secret verifiers SHALL NOT permit the subscriber to store a "hint" that is accessible to an unauthenticated claimant. Verifiers SHALL NOT prompt subscribers to use specific types of information (e.g., "What was the name of your first pet?") when choosing memorized secrets."</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5"/>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"Verifiers SHOULD NOT require memorized secrets to be changed arbitrarily (e.g., periodically)."</a:t>
            </a:r>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"Verifiers SHALL implement a rate-limiting mechanism that effectively limits the number of failed authentication attempts that can be made on the subscriber’s account…"</a:t>
            </a:r>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5" name="Shape 225"/>
        <p:cNvGrpSpPr/>
        <p:nvPr/>
      </p:nvGrpSpPr>
      <p:grpSpPr>
        <a:xfrm>
          <a:off x="0" y="0"/>
          <a:ext cx="0" cy="0"/>
          <a:chOff x="0" y="0"/>
          <a:chExt cx="0" cy="0"/>
        </a:xfrm>
      </p:grpSpPr>
      <p:pic>
        <p:nvPicPr>
          <p:cNvPr id="226" name="Google Shape;226;p47"/>
          <p:cNvPicPr preferRelativeResize="0"/>
          <p:nvPr/>
        </p:nvPicPr>
        <p:blipFill>
          <a:blip r:embed="rId3">
            <a:alphaModFix/>
          </a:blip>
          <a:stretch>
            <a:fillRect/>
          </a:stretch>
        </p:blipFill>
        <p:spPr>
          <a:xfrm>
            <a:off x="3367975" y="152400"/>
            <a:ext cx="2408061" cy="483869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300"/>
              <a:t>Two-Factor Authentication (2FA)</a:t>
            </a:r>
            <a:endParaRPr sz="43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300"/>
              <a:t>Multi</a:t>
            </a:r>
            <a:r>
              <a:rPr lang="en" sz="4300"/>
              <a:t>-Factor Authentication</a:t>
            </a:r>
            <a:endParaRPr sz="43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50"/>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600"/>
              <a:t>Knowledge</a:t>
            </a:r>
            <a:endParaRPr sz="3600"/>
          </a:p>
          <a:p>
            <a:pPr indent="0" lvl="0" marL="0" rtl="0" algn="l">
              <a:spcBef>
                <a:spcPts val="0"/>
              </a:spcBef>
              <a:spcAft>
                <a:spcPts val="0"/>
              </a:spcAft>
              <a:buNone/>
            </a:pPr>
            <a:r>
              <a:rPr lang="en" sz="3600"/>
              <a:t>Possession</a:t>
            </a:r>
            <a:endParaRPr sz="3600"/>
          </a:p>
          <a:p>
            <a:pPr indent="0" lvl="0" marL="0" rtl="0" algn="l">
              <a:spcBef>
                <a:spcPts val="0"/>
              </a:spcBef>
              <a:spcAft>
                <a:spcPts val="0"/>
              </a:spcAft>
              <a:buNone/>
            </a:pPr>
            <a:r>
              <a:rPr lang="en" sz="3600"/>
              <a:t>Inherence</a:t>
            </a:r>
            <a:endParaRPr sz="3600"/>
          </a:p>
          <a:p>
            <a:pPr indent="0" lvl="0" marL="0" rtl="0" algn="l">
              <a:spcBef>
                <a:spcPts val="0"/>
              </a:spcBef>
              <a:spcAft>
                <a:spcPts val="0"/>
              </a:spcAft>
              <a:buNone/>
            </a:pPr>
            <a:r>
              <a:rPr lang="en" sz="3600"/>
              <a:t>…</a:t>
            </a:r>
            <a:endParaRPr sz="36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sp>
        <p:nvSpPr>
          <p:cNvPr id="246" name="Google Shape;246;p51"/>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Biometrics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52"/>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One-Time Password (OTP)</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5" name="Shape 255"/>
        <p:cNvGrpSpPr/>
        <p:nvPr/>
      </p:nvGrpSpPr>
      <p:grpSpPr>
        <a:xfrm>
          <a:off x="0" y="0"/>
          <a:ext cx="0" cy="0"/>
          <a:chOff x="0" y="0"/>
          <a:chExt cx="0" cy="0"/>
        </a:xfrm>
      </p:grpSpPr>
      <p:pic>
        <p:nvPicPr>
          <p:cNvPr id="256" name="Google Shape;256;p53"/>
          <p:cNvPicPr preferRelativeResize="0"/>
          <p:nvPr/>
        </p:nvPicPr>
        <p:blipFill>
          <a:blip r:embed="rId3">
            <a:alphaModFix/>
          </a:blip>
          <a:stretch>
            <a:fillRect/>
          </a:stretch>
        </p:blipFill>
        <p:spPr>
          <a:xfrm>
            <a:off x="1714500" y="1390650"/>
            <a:ext cx="5715000" cy="2362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0" name="Shape 260"/>
        <p:cNvGrpSpPr/>
        <p:nvPr/>
      </p:nvGrpSpPr>
      <p:grpSpPr>
        <a:xfrm>
          <a:off x="0" y="0"/>
          <a:ext cx="0" cy="0"/>
          <a:chOff x="0" y="0"/>
          <a:chExt cx="0" cy="0"/>
        </a:xfrm>
      </p:grpSpPr>
      <p:pic>
        <p:nvPicPr>
          <p:cNvPr id="261" name="Google Shape;261;p54"/>
          <p:cNvPicPr preferRelativeResize="0"/>
          <p:nvPr/>
        </p:nvPicPr>
        <p:blipFill>
          <a:blip r:embed="rId3">
            <a:alphaModFix/>
          </a:blip>
          <a:stretch>
            <a:fillRect/>
          </a:stretch>
        </p:blipFill>
        <p:spPr>
          <a:xfrm>
            <a:off x="1714488" y="829600"/>
            <a:ext cx="5715000" cy="348430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5"/>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SIM Swapping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Keylogging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Credential Stuffing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Social Engineering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Phishing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0" name="Shape 290"/>
        <p:cNvGrpSpPr/>
        <p:nvPr/>
      </p:nvGrpSpPr>
      <p:grpSpPr>
        <a:xfrm>
          <a:off x="0" y="0"/>
          <a:ext cx="0" cy="0"/>
          <a:chOff x="0" y="0"/>
          <a:chExt cx="0" cy="0"/>
        </a:xfrm>
      </p:grpSpPr>
      <p:pic>
        <p:nvPicPr>
          <p:cNvPr id="291" name="Google Shape;291;p60"/>
          <p:cNvPicPr preferRelativeResize="0"/>
          <p:nvPr/>
        </p:nvPicPr>
        <p:blipFill>
          <a:blip r:embed="rId3">
            <a:alphaModFix/>
          </a:blip>
          <a:stretch>
            <a:fillRect/>
          </a:stretch>
        </p:blipFill>
        <p:spPr>
          <a:xfrm>
            <a:off x="2379650" y="152400"/>
            <a:ext cx="4384699" cy="48387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5" name="Shape 295"/>
        <p:cNvGrpSpPr/>
        <p:nvPr/>
      </p:nvGrpSpPr>
      <p:grpSpPr>
        <a:xfrm>
          <a:off x="0" y="0"/>
          <a:ext cx="0" cy="0"/>
          <a:chOff x="0" y="0"/>
          <a:chExt cx="0" cy="0"/>
        </a:xfrm>
      </p:grpSpPr>
      <p:pic>
        <p:nvPicPr>
          <p:cNvPr id="296" name="Google Shape;296;p61"/>
          <p:cNvPicPr preferRelativeResize="0"/>
          <p:nvPr/>
        </p:nvPicPr>
        <p:blipFill>
          <a:blip r:embed="rId3">
            <a:alphaModFix/>
          </a:blip>
          <a:stretch>
            <a:fillRect/>
          </a:stretch>
        </p:blipFill>
        <p:spPr>
          <a:xfrm>
            <a:off x="2469250" y="152400"/>
            <a:ext cx="4205488" cy="483870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62"/>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600"/>
              <a:t>Machine-in-the-Middle Attacks</a:t>
            </a:r>
            <a:endParaRPr sz="46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1"/>
        </a:solidFill>
      </p:bgPr>
    </p:bg>
    <p:spTree>
      <p:nvGrpSpPr>
        <p:cNvPr id="305" name="Shape 305"/>
        <p:cNvGrpSpPr/>
        <p:nvPr/>
      </p:nvGrpSpPr>
      <p:grpSpPr>
        <a:xfrm>
          <a:off x="0" y="0"/>
          <a:ext cx="0" cy="0"/>
          <a:chOff x="0" y="0"/>
          <a:chExt cx="0" cy="0"/>
        </a:xfrm>
      </p:grpSpPr>
      <p:pic>
        <p:nvPicPr>
          <p:cNvPr id="306" name="Google Shape;306;p63"/>
          <p:cNvPicPr preferRelativeResize="0"/>
          <p:nvPr/>
        </p:nvPicPr>
        <p:blipFill>
          <a:blip r:embed="rId3">
            <a:alphaModFix/>
          </a:blip>
          <a:stretch>
            <a:fillRect/>
          </a:stretch>
        </p:blipFill>
        <p:spPr>
          <a:xfrm>
            <a:off x="2152650" y="152400"/>
            <a:ext cx="4838699" cy="48386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6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Single Sign-On (SSO)</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5" name="Shape 315"/>
        <p:cNvGrpSpPr/>
        <p:nvPr/>
      </p:nvGrpSpPr>
      <p:grpSpPr>
        <a:xfrm>
          <a:off x="0" y="0"/>
          <a:ext cx="0" cy="0"/>
          <a:chOff x="0" y="0"/>
          <a:chExt cx="0" cy="0"/>
        </a:xfrm>
      </p:grpSpPr>
      <p:pic>
        <p:nvPicPr>
          <p:cNvPr id="316" name="Google Shape;316;p65"/>
          <p:cNvPicPr preferRelativeResize="0"/>
          <p:nvPr/>
        </p:nvPicPr>
        <p:blipFill>
          <a:blip r:embed="rId3">
            <a:alphaModFix/>
          </a:blip>
          <a:stretch>
            <a:fillRect/>
          </a:stretch>
        </p:blipFill>
        <p:spPr>
          <a:xfrm>
            <a:off x="2445100" y="152400"/>
            <a:ext cx="4253802" cy="48386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6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Password Managers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6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Apple iCloud Keychain</a:t>
            </a:r>
            <a:endParaRPr sz="2400"/>
          </a:p>
          <a:p>
            <a:pPr indent="0" lvl="0" marL="0" rtl="0" algn="l">
              <a:spcBef>
                <a:spcPts val="0"/>
              </a:spcBef>
              <a:spcAft>
                <a:spcPts val="0"/>
              </a:spcAft>
              <a:buNone/>
            </a:pPr>
            <a:r>
              <a:rPr lang="en" sz="2400"/>
              <a:t>Google Password Manager</a:t>
            </a:r>
            <a:endParaRPr sz="2400"/>
          </a:p>
          <a:p>
            <a:pPr indent="0" lvl="0" marL="0" rtl="0" algn="l">
              <a:spcBef>
                <a:spcPts val="0"/>
              </a:spcBef>
              <a:spcAft>
                <a:spcPts val="0"/>
              </a:spcAft>
              <a:buNone/>
            </a:pPr>
            <a:r>
              <a:rPr lang="en" sz="2400"/>
              <a:t>Microsoft Credential Manager</a:t>
            </a:r>
            <a:endParaRPr sz="2400"/>
          </a:p>
          <a:p>
            <a:pPr indent="0" lvl="0" marL="0" rtl="0" algn="l">
              <a:spcBef>
                <a:spcPts val="0"/>
              </a:spcBef>
              <a:spcAft>
                <a:spcPts val="0"/>
              </a:spcAft>
              <a:buNone/>
            </a:pPr>
            <a:r>
              <a:rPr lang="en" sz="2400"/>
              <a:t>...</a:t>
            </a: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Passkeys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6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"Verifiers SHALL store memorized secrets in a form that is resistant to offline attacks. Memorized secrets SHALL be salted and hashed using a suitable one-way key derivation function... Their purpose is to make each password guessing trial by an attacker who has obtained a password hash file expensive and therefore the cost of a guessing attack high or prohibitive. "</a:t>
            </a:r>
            <a:endParaRPr baseline="30000" sz="24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7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800"/>
              <a:t>Introduction to</a:t>
            </a:r>
            <a:endParaRPr sz="2800"/>
          </a:p>
          <a:p>
            <a:pPr indent="0" lvl="0" marL="0" rtl="0" algn="l">
              <a:spcBef>
                <a:spcPts val="0"/>
              </a:spcBef>
              <a:spcAft>
                <a:spcPts val="0"/>
              </a:spcAft>
              <a:buNone/>
            </a:pPr>
            <a:r>
              <a:rPr lang="en"/>
              <a:t>Cybersecurity</a:t>
            </a:r>
            <a:endParaRPr/>
          </a:p>
        </p:txBody>
      </p:sp>
      <p:sp>
        <p:nvSpPr>
          <p:cNvPr id="342" name="Google Shape;342;p7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David J. Malan</a:t>
            </a:r>
            <a:endParaRPr/>
          </a:p>
          <a:p>
            <a:pPr indent="0" lvl="0" marL="0" rtl="0" algn="l">
              <a:spcBef>
                <a:spcPts val="0"/>
              </a:spcBef>
              <a:spcAft>
                <a:spcPts val="0"/>
              </a:spcAft>
              <a:buNone/>
            </a:pPr>
            <a:r>
              <a:rPr lang="en"/>
              <a:t>malan@harvard.edu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